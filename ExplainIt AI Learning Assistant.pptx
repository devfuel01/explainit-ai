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63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6.jpe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8716" y="2753503"/>
            <a:ext cx="1626568" cy="4877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Idris Ibrahim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2664" y="1401890"/>
            <a:ext cx="827867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ExplainIt AI Learning Assistant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0" y="2179130"/>
            <a:ext cx="9144000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000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over memorization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4454D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63019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and Solution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Implementation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 and Solution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memorize without understanding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8565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63307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193831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108573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1225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026992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43296" y="1380883"/>
            <a:ext cx="2600560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Memorization over understanding</a:t>
            </a:r>
            <a:endParaRPr lang="en-US" sz="1400" dirty="0"/>
          </a:p>
        </p:txBody>
      </p:sp>
      <p:pic>
        <p:nvPicPr>
          <p:cNvPr id="13" name="Image 2" descr="https://oceandoc-ai.obs.ap-southeast-3.myhuaweicloud.com:443/image_1770465493460_4Df54c.jpg"/>
          <p:cNvPicPr>
            <a:picLocks noChangeAspect="1"/>
          </p:cNvPicPr>
          <p:nvPr/>
        </p:nvPicPr>
        <p:blipFill>
          <a:blip r:embed="rId6"/>
          <a:srcRect t="19985" b="19985"/>
          <a:stretch/>
        </p:blipFill>
        <p:spPr>
          <a:xfrm>
            <a:off x="452769" y="3269468"/>
            <a:ext cx="2591087" cy="15546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296" y="1923328"/>
            <a:ext cx="2600560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focus on memorizing answers without grasping underlying concepts, limiting true learning and knowledge application.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61714" y="1380883"/>
            <a:ext cx="2600560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explanation tools</a:t>
            </a:r>
            <a:endParaRPr lang="en-US" sz="1400" dirty="0"/>
          </a:p>
        </p:txBody>
      </p:sp>
      <p:pic>
        <p:nvPicPr>
          <p:cNvPr id="16" name="Image 3" descr="https://oceandoc-ai.obs.ap-southeast-3.myhuaweicloud.com:443/image_1770465496270_cMkYb7.jpg"/>
          <p:cNvPicPr>
            <a:picLocks noChangeAspect="1"/>
          </p:cNvPicPr>
          <p:nvPr/>
        </p:nvPicPr>
        <p:blipFill>
          <a:blip r:embed="rId7"/>
          <a:srcRect t="19985" b="19985"/>
          <a:stretch/>
        </p:blipFill>
        <p:spPr>
          <a:xfrm>
            <a:off x="3371187" y="3269468"/>
            <a:ext cx="2591087" cy="15546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61714" y="1923328"/>
            <a:ext cx="2600560" cy="13003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homework help platforms provide final answers without explaining steps, preventing students from learning problem-solving processes.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80133" y="1380883"/>
            <a:ext cx="2600560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Tutoring accessibility issues</a:t>
            </a:r>
            <a:endParaRPr lang="en-US" sz="1400" dirty="0"/>
          </a:p>
        </p:txBody>
      </p:sp>
      <p:pic>
        <p:nvPicPr>
          <p:cNvPr id="19" name="Image 4" descr="https://oceandoc-ai.obs.ap-southeast-3.myhuaweicloud.com:443/image_1770465499218_8IXRIX.jpg"/>
          <p:cNvPicPr>
            <a:picLocks noChangeAspect="1"/>
          </p:cNvPicPr>
          <p:nvPr/>
        </p:nvPicPr>
        <p:blipFill>
          <a:blip r:embed="rId8"/>
          <a:srcRect t="19985" b="19985"/>
          <a:stretch/>
        </p:blipFill>
        <p:spPr>
          <a:xfrm>
            <a:off x="6289606" y="3269468"/>
            <a:ext cx="2591087" cy="15546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80133" y="1923328"/>
            <a:ext cx="2600560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Many students lack access to affordable step-by-step tutoring resources that could help develop deeper conceptual understanding.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Lack of affordable tutoring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86" y="973100"/>
            <a:ext cx="4209837" cy="1701083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877" y="973100"/>
            <a:ext cx="4209837" cy="1701083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286" y="2853664"/>
            <a:ext cx="4209898" cy="170078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425" y="2853664"/>
            <a:ext cx="4209898" cy="1700784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787325" y="1969030"/>
            <a:ext cx="1569350" cy="1569350"/>
          </a:xfrm>
          <a:custGeom>
            <a:avLst/>
            <a:gdLst/>
            <a:ahLst/>
            <a:cxnLst/>
            <a:rect l="l" t="t" r="r" b="b"/>
            <a:pathLst>
              <a:path w="1569350" h="1569350">
                <a:moveTo>
                  <a:pt x="784675" y="0"/>
                </a:moveTo>
                <a:moveTo>
                  <a:pt x="784675" y="0"/>
                </a:moveTo>
                <a:cubicBezTo>
                  <a:pt x="1217749" y="0"/>
                  <a:pt x="1569350" y="351601"/>
                  <a:pt x="1569350" y="784675"/>
                </a:cubicBezTo>
                <a:cubicBezTo>
                  <a:pt x="1569350" y="1217749"/>
                  <a:pt x="1217749" y="1569350"/>
                  <a:pt x="784675" y="1569350"/>
                </a:cubicBezTo>
                <a:cubicBezTo>
                  <a:pt x="351601" y="1569350"/>
                  <a:pt x="0" y="1217749"/>
                  <a:pt x="0" y="784675"/>
                </a:cubicBezTo>
                <a:cubicBezTo>
                  <a:pt x="0" y="351601"/>
                  <a:pt x="351601" y="0"/>
                  <a:pt x="78467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/>
          <p:nvPr/>
        </p:nvSpPr>
        <p:spPr>
          <a:xfrm>
            <a:off x="366908" y="1083974"/>
            <a:ext cx="4002593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Expensive tutoring services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386728" y="1589172"/>
            <a:ext cx="3400597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Many students cannot afford personalized tutoring, creating barriers to academic support and understanding.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4670877" y="1083974"/>
            <a:ext cx="4050449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access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5239344" y="1589172"/>
            <a:ext cx="348198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 educational assistance remains unavailable to students from disadvantaged backgrounds or remote locations.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366908" y="2954248"/>
            <a:ext cx="3400597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inequality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386728" y="3414018"/>
            <a:ext cx="3400597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tutoring gap widens educational disparities between students with resources and those without.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356675" y="2954248"/>
            <a:ext cx="3364651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Self-study challenges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477745" y="3414018"/>
            <a:ext cx="3243581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guidance, students struggle to overcome learning obstacles when studying independently.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658" y="2386364"/>
            <a:ext cx="734683" cy="734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ExplainIt AI provides explanations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790" y="3068291"/>
            <a:ext cx="941142" cy="58821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500745" y="3569818"/>
            <a:ext cx="0" cy="1573618"/>
          </a:xfrm>
          <a:custGeom>
            <a:avLst/>
            <a:gdLst/>
            <a:ahLst/>
            <a:cxnLst/>
            <a:rect l="l" t="t" r="r" b="b"/>
            <a:pathLst>
              <a:path h="1573618">
                <a:moveTo>
                  <a:pt x="0" y="0"/>
                </a:moveTo>
                <a:moveTo>
                  <a:pt x="0" y="0"/>
                </a:moveTo>
                <a:lnTo>
                  <a:pt x="0" y="1573618"/>
                </a:lnTo>
              </a:path>
            </a:pathLst>
          </a:custGeom>
          <a:noFill/>
          <a:ln w="85725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0908" y="3028123"/>
            <a:ext cx="941142" cy="58821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9836" y="1948840"/>
            <a:ext cx="941142" cy="58821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4566992" y="2456192"/>
            <a:ext cx="0" cy="2687243"/>
          </a:xfrm>
          <a:custGeom>
            <a:avLst/>
            <a:gdLst/>
            <a:ahLst/>
            <a:cxnLst/>
            <a:rect l="l" t="t" r="r" b="b"/>
            <a:pathLst>
              <a:path h="2687243">
                <a:moveTo>
                  <a:pt x="0" y="0"/>
                </a:moveTo>
                <a:moveTo>
                  <a:pt x="0" y="0"/>
                </a:moveTo>
                <a:lnTo>
                  <a:pt x="0" y="2687243"/>
                </a:lnTo>
              </a:path>
            </a:pathLst>
          </a:custGeom>
          <a:noFill/>
          <a:ln w="85725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954" y="1908672"/>
            <a:ext cx="941142" cy="588214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4647248" y="2460904"/>
            <a:ext cx="941142" cy="588214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4701528" y="2955289"/>
            <a:ext cx="0" cy="2188146"/>
          </a:xfrm>
          <a:custGeom>
            <a:avLst/>
            <a:gdLst/>
            <a:ahLst/>
            <a:cxnLst/>
            <a:rect l="l" t="t" r="r" b="b"/>
            <a:pathLst>
              <a:path h="2188146">
                <a:moveTo>
                  <a:pt x="0" y="0"/>
                </a:moveTo>
                <a:moveTo>
                  <a:pt x="0" y="0"/>
                </a:moveTo>
                <a:lnTo>
                  <a:pt x="0" y="2188146"/>
                </a:lnTo>
              </a:path>
            </a:pathLst>
          </a:custGeom>
          <a:noFill/>
          <a:ln w="85725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4641366" y="2420736"/>
            <a:ext cx="941142" cy="588214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4576136" y="1296163"/>
            <a:ext cx="941142" cy="588214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4630416" y="1789803"/>
            <a:ext cx="0" cy="3353632"/>
          </a:xfrm>
          <a:custGeom>
            <a:avLst/>
            <a:gdLst/>
            <a:ahLst/>
            <a:cxnLst/>
            <a:rect l="l" t="t" r="r" b="b"/>
            <a:pathLst>
              <a:path h="3353632">
                <a:moveTo>
                  <a:pt x="0" y="0"/>
                </a:moveTo>
                <a:moveTo>
                  <a:pt x="0" y="0"/>
                </a:moveTo>
                <a:lnTo>
                  <a:pt x="0" y="3353632"/>
                </a:lnTo>
              </a:path>
            </a:pathLst>
          </a:custGeom>
          <a:noFill/>
          <a:ln w="85725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4570254" y="1255995"/>
            <a:ext cx="941142" cy="588214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722374" y="1287019"/>
            <a:ext cx="536830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9" name="Text 7"/>
          <p:cNvSpPr/>
          <p:nvPr/>
        </p:nvSpPr>
        <p:spPr>
          <a:xfrm>
            <a:off x="3936483" y="1954392"/>
            <a:ext cx="536830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20" name="Text 8"/>
          <p:cNvSpPr/>
          <p:nvPr/>
        </p:nvSpPr>
        <p:spPr>
          <a:xfrm>
            <a:off x="4837319" y="2457312"/>
            <a:ext cx="536830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3839907" y="3055555"/>
            <a:ext cx="536830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22" name="Shape 10"/>
          <p:cNvSpPr/>
          <p:nvPr/>
        </p:nvSpPr>
        <p:spPr>
          <a:xfrm>
            <a:off x="5422711" y="1302270"/>
            <a:ext cx="349646" cy="0"/>
          </a:xfrm>
          <a:custGeom>
            <a:avLst/>
            <a:gdLst/>
            <a:ahLst/>
            <a:cxnLst/>
            <a:rect l="l" t="t" r="r" b="b"/>
            <a:pathLst>
              <a:path w="349646">
                <a:moveTo>
                  <a:pt x="0" y="0"/>
                </a:moveTo>
                <a:moveTo>
                  <a:pt x="0" y="0"/>
                </a:moveTo>
                <a:lnTo>
                  <a:pt x="349646" y="0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1"/>
          <p:cNvSpPr/>
          <p:nvPr/>
        </p:nvSpPr>
        <p:spPr>
          <a:xfrm>
            <a:off x="5526422" y="2460310"/>
            <a:ext cx="349646" cy="0"/>
          </a:xfrm>
          <a:custGeom>
            <a:avLst/>
            <a:gdLst/>
            <a:ahLst/>
            <a:cxnLst/>
            <a:rect l="l" t="t" r="r" b="b"/>
            <a:pathLst>
              <a:path w="349646">
                <a:moveTo>
                  <a:pt x="0" y="0"/>
                </a:moveTo>
                <a:moveTo>
                  <a:pt x="0" y="0"/>
                </a:moveTo>
                <a:lnTo>
                  <a:pt x="349646" y="0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2"/>
          <p:cNvSpPr/>
          <p:nvPr/>
        </p:nvSpPr>
        <p:spPr>
          <a:xfrm>
            <a:off x="3433679" y="1948840"/>
            <a:ext cx="349646" cy="0"/>
          </a:xfrm>
          <a:custGeom>
            <a:avLst/>
            <a:gdLst/>
            <a:ahLst/>
            <a:cxnLst/>
            <a:rect l="l" t="t" r="r" b="b"/>
            <a:pathLst>
              <a:path w="349646">
                <a:moveTo>
                  <a:pt x="0" y="0"/>
                </a:moveTo>
                <a:moveTo>
                  <a:pt x="0" y="0"/>
                </a:moveTo>
                <a:lnTo>
                  <a:pt x="349646" y="0"/>
                </a:lnTo>
              </a:path>
            </a:pathLst>
          </a:custGeom>
          <a:noFill/>
          <a:ln w="9525">
            <a:solidFill>
              <a:srgbClr val="5196FF"/>
            </a:solidFill>
            <a:prstDash val="dash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3"/>
          <p:cNvSpPr/>
          <p:nvPr/>
        </p:nvSpPr>
        <p:spPr>
          <a:xfrm>
            <a:off x="3345871" y="3077435"/>
            <a:ext cx="349646" cy="0"/>
          </a:xfrm>
          <a:custGeom>
            <a:avLst/>
            <a:gdLst/>
            <a:ahLst/>
            <a:cxnLst/>
            <a:rect l="l" t="t" r="r" b="b"/>
            <a:pathLst>
              <a:path w="349646">
                <a:moveTo>
                  <a:pt x="0" y="0"/>
                </a:moveTo>
                <a:moveTo>
                  <a:pt x="0" y="0"/>
                </a:moveTo>
                <a:lnTo>
                  <a:pt x="349646" y="0"/>
                </a:lnTo>
              </a:path>
            </a:pathLst>
          </a:custGeom>
          <a:noFill/>
          <a:ln w="9525">
            <a:solidFill>
              <a:srgbClr val="5196FF"/>
            </a:solidFill>
            <a:prstDash val="dash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4"/>
          <p:cNvSpPr/>
          <p:nvPr/>
        </p:nvSpPr>
        <p:spPr>
          <a:xfrm>
            <a:off x="338297" y="1048839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Step-by-step learning approach</a:t>
            </a:r>
            <a:endParaRPr lang="en-US" sz="1400" dirty="0"/>
          </a:p>
        </p:txBody>
      </p:sp>
      <p:sp>
        <p:nvSpPr>
          <p:cNvPr id="27" name="Text 15"/>
          <p:cNvSpPr/>
          <p:nvPr/>
        </p:nvSpPr>
        <p:spPr>
          <a:xfrm>
            <a:off x="384017" y="1443860"/>
            <a:ext cx="2971800" cy="9310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ExplainIt AI breaks down homework questions with detailed explanations rather than just providing final answers.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5858749" y="783652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 AI tutor</a:t>
            </a:r>
            <a:endParaRPr lang="en-US" sz="1400" dirty="0"/>
          </a:p>
        </p:txBody>
      </p:sp>
      <p:sp>
        <p:nvSpPr>
          <p:cNvPr id="29" name="Text 17"/>
          <p:cNvSpPr/>
          <p:nvPr/>
        </p:nvSpPr>
        <p:spPr>
          <a:xfrm>
            <a:off x="5858749" y="1178651"/>
            <a:ext cx="2971800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Available 24/7 to guide students through problems with clear reasoning and methodology.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338297" y="2832833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understanding</a:t>
            </a:r>
            <a:endParaRPr lang="en-US" sz="1400" dirty="0"/>
          </a:p>
        </p:txBody>
      </p:sp>
      <p:sp>
        <p:nvSpPr>
          <p:cNvPr id="31" name="Text 19"/>
          <p:cNvSpPr/>
          <p:nvPr/>
        </p:nvSpPr>
        <p:spPr>
          <a:xfrm>
            <a:off x="384017" y="3202251"/>
            <a:ext cx="2971800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Emphasizes the "how" and "why" behind solutions to build deeper comprehension of concepts.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5943231" y="2252647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explanations</a:t>
            </a:r>
            <a:endParaRPr lang="en-US" sz="1400" dirty="0"/>
          </a:p>
        </p:txBody>
      </p:sp>
      <p:sp>
        <p:nvSpPr>
          <p:cNvPr id="33" name="Text 21"/>
          <p:cNvSpPr/>
          <p:nvPr/>
        </p:nvSpPr>
        <p:spPr>
          <a:xfrm>
            <a:off x="5943231" y="2622064"/>
            <a:ext cx="2971800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Provides organized steps, reasoning, final answers and verification to ensure complete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Acts as personal AI tutor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70465493604_vBUQB0.jpg"/>
          <p:cNvPicPr>
            <a:picLocks noChangeAspect="1"/>
          </p:cNvPicPr>
          <p:nvPr/>
        </p:nvPicPr>
        <p:blipFill>
          <a:blip r:embed="rId6"/>
          <a:srcRect l="33146" r="33146"/>
          <a:stretch/>
        </p:blipFill>
        <p:spPr>
          <a:xfrm>
            <a:off x="6607984" y="891341"/>
            <a:ext cx="2289951" cy="38165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767469" y="954956"/>
            <a:ext cx="5840516" cy="74145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246064" y="952474"/>
            <a:ext cx="2116701" cy="746413"/>
          </a:xfrm>
          <a:custGeom>
            <a:avLst/>
            <a:gdLst/>
            <a:ahLst/>
            <a:cxnLst/>
            <a:rect l="l" t="t" r="r" b="b"/>
            <a:pathLst>
              <a:path w="2116701" h="746413">
                <a:moveTo>
                  <a:pt x="100759" y="0"/>
                </a:moveTo>
                <a:moveTo>
                  <a:pt x="100759" y="0"/>
                </a:moveTo>
                <a:lnTo>
                  <a:pt x="2015942" y="0"/>
                </a:lnTo>
                <a:quadBezTo>
                  <a:pt x="2116701" y="0"/>
                  <a:pt x="2116701" y="93302"/>
                </a:quadBezTo>
                <a:lnTo>
                  <a:pt x="2116701" y="653112"/>
                </a:lnTo>
                <a:quadBezTo>
                  <a:pt x="2116701" y="746413"/>
                  <a:pt x="2015942" y="746413"/>
                </a:quadBezTo>
                <a:lnTo>
                  <a:pt x="100759" y="746413"/>
                </a:lnTo>
                <a:quadBezTo>
                  <a:pt x="0" y="746413"/>
                  <a:pt x="0" y="653112"/>
                </a:quadBezTo>
                <a:lnTo>
                  <a:pt x="0" y="93302"/>
                </a:lnTo>
                <a:quadBezTo>
                  <a:pt x="0" y="0"/>
                  <a:pt x="100759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3"/>
          <p:cNvSpPr/>
          <p:nvPr/>
        </p:nvSpPr>
        <p:spPr>
          <a:xfrm>
            <a:off x="302803" y="955349"/>
            <a:ext cx="2052374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Available 24/7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2455479" y="952502"/>
            <a:ext cx="39589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can access personalized tutoring anytime, eliminating scheduling constraints and providing immediate learning support.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67498" y="1935830"/>
            <a:ext cx="5827117" cy="74615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246102" y="1935830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/>
          <p:nvPr/>
        </p:nvSpPr>
        <p:spPr>
          <a:xfrm>
            <a:off x="246064" y="1934001"/>
            <a:ext cx="2196359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Step-by-step guidance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2455792" y="1935726"/>
            <a:ext cx="39589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Provides detailed explanations rather than just answers, helping students understand concepts thoroughly instead of memorizing solutions.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767469" y="2919011"/>
            <a:ext cx="5827117" cy="7461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46064" y="2919011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199726" y="2917182"/>
            <a:ext cx="2196359" cy="749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learning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2455479" y="2918907"/>
            <a:ext cx="39589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Adapts explanations to student's grade level, ensuring content is appropriate and comprehensible for individual learning needs.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767469" y="3906887"/>
            <a:ext cx="5827117" cy="746150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246064" y="3906887"/>
            <a:ext cx="2117023" cy="746150"/>
          </a:xfrm>
          <a:custGeom>
            <a:avLst/>
            <a:gdLst/>
            <a:ahLst/>
            <a:cxnLst/>
            <a:rect l="l" t="t" r="r" b="b"/>
            <a:pathLst>
              <a:path w="2117023" h="746150">
                <a:moveTo>
                  <a:pt x="123746" y="0"/>
                </a:moveTo>
                <a:moveTo>
                  <a:pt x="123746" y="0"/>
                </a:moveTo>
                <a:lnTo>
                  <a:pt x="1993277" y="0"/>
                </a:lnTo>
                <a:quadBezTo>
                  <a:pt x="2117023" y="0"/>
                  <a:pt x="2117023" y="93269"/>
                </a:quadBezTo>
                <a:lnTo>
                  <a:pt x="2117023" y="652882"/>
                </a:lnTo>
                <a:quadBezTo>
                  <a:pt x="2117023" y="746150"/>
                  <a:pt x="1993277" y="746150"/>
                </a:quadBezTo>
                <a:lnTo>
                  <a:pt x="123746" y="746150"/>
                </a:lnTo>
                <a:quadBezTo>
                  <a:pt x="0" y="746150"/>
                  <a:pt x="0" y="652882"/>
                </a:quadBezTo>
                <a:lnTo>
                  <a:pt x="0" y="93269"/>
                </a:lnTo>
                <a:quadBezTo>
                  <a:pt x="0" y="0"/>
                  <a:pt x="123746" y="0"/>
                </a:quad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/>
          <p:cNvSpPr/>
          <p:nvPr/>
        </p:nvSpPr>
        <p:spPr>
          <a:xfrm>
            <a:off x="246064" y="3909631"/>
            <a:ext cx="2117061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Promotes understanding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2455479" y="3906784"/>
            <a:ext cx="39589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Focuses on reasoning behind solutions, encouraging critical thinking skills and deeper conceptual knowledge rather than rote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Implementation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Gemini AI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70465495309_gsP7Tr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70465499142_JPr1tR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70465502571_1BoX72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5" descr="https://oceandoc-ai.obs.ap-southeast-3.myhuaweicloud.com:443/image_1770465506209_GdpyAD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3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5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6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7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8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Powered by Google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279514" y="3123431"/>
            <a:ext cx="1916198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ExplainIt AI leverages Gemini's advanced language capabilities to deliver comprehensive educational assistance.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2298138" y="2697320"/>
            <a:ext cx="2358060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explanations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2502439" y="3123431"/>
            <a:ext cx="1916198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prompts ensure AI generates step-by-step reasoning rather than just answers.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Educational focus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4725363" y="3123431"/>
            <a:ext cx="1916198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designed to teach concepts thoroughly, promoting understanding over memorization.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870137" y="2697320"/>
            <a:ext cx="2095837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 included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6948288" y="3123431"/>
            <a:ext cx="1916198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Explanations include both how to solve problems and why specific approaches 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HTML/CSS/JavaScript frontend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74" y="1048817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web interface</a:t>
            </a:r>
            <a:endParaRPr lang="en-US" sz="1400" dirty="0"/>
          </a:p>
        </p:txBody>
      </p:sp>
      <p:pic>
        <p:nvPicPr>
          <p:cNvPr id="7" name="Image 2" descr="https://oceandoc-ai.obs.ap-southeast-3.myhuaweicloud.com:443/image_1770465504313_9O2Msh.jpg"/>
          <p:cNvPicPr>
            <a:picLocks noChangeAspect="1"/>
          </p:cNvPicPr>
          <p:nvPr/>
        </p:nvPicPr>
        <p:blipFill>
          <a:blip r:embed="rId6"/>
          <a:srcRect l="31273" r="31273"/>
          <a:stretch/>
        </p:blipFill>
        <p:spPr>
          <a:xfrm>
            <a:off x="3369564" y="986638"/>
            <a:ext cx="2405534" cy="36083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1053" y="1526134"/>
            <a:ext cx="30331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HTML structure with responsive CSS design for optimal viewing on all devices.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76674" y="2960827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elements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267530" y="3414935"/>
            <a:ext cx="30331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 powers dynamic user interactions and real-time feedback when submitting questions.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897880" y="1048817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 design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897880" y="1526112"/>
            <a:ext cx="30331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Fast-loading pages ensure students can quickly access help without technical barriers.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897880" y="2960805"/>
            <a:ext cx="3017520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User-friendly layout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904358" y="3414935"/>
            <a:ext cx="3033142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Intuitive navigation and clear input fields make the learning assistant accessible to all students.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PHP backend with MySQL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60191" y="1161333"/>
            <a:ext cx="8618101" cy="1666449"/>
          </a:xfrm>
          <a:custGeom>
            <a:avLst/>
            <a:gdLst/>
            <a:ahLst/>
            <a:cxnLst/>
            <a:rect l="l" t="t" r="r" b="b"/>
            <a:pathLst>
              <a:path w="8618101" h="1666449">
                <a:moveTo>
                  <a:pt x="0" y="1666449"/>
                </a:moveTo>
                <a:moveTo>
                  <a:pt x="0" y="1666449"/>
                </a:moveTo>
                <a:lnTo>
                  <a:pt x="0" y="0"/>
                </a:lnTo>
                <a:lnTo>
                  <a:pt x="8423890" y="0"/>
                </a:lnTo>
                <a:lnTo>
                  <a:pt x="8618101" y="179936"/>
                </a:lnTo>
                <a:lnTo>
                  <a:pt x="8618101" y="166644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5049D5"/>
            </a:solidFill>
            <a:prstDash val="solid"/>
          </a:ln>
          <a:effectLst>
            <a:outerShdw blurRad="19050" dist="38100" dir="2700000" algn="bl" rotWithShape="0">
              <a:srgbClr val="5049D5">
                <a:alpha val="2117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50884" y="1370917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867557" y="1370917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65708" y="3041905"/>
            <a:ext cx="8618101" cy="1666449"/>
          </a:xfrm>
          <a:custGeom>
            <a:avLst/>
            <a:gdLst/>
            <a:ahLst/>
            <a:cxnLst/>
            <a:rect l="l" t="t" r="r" b="b"/>
            <a:pathLst>
              <a:path w="8618101" h="1666449">
                <a:moveTo>
                  <a:pt x="0" y="1666449"/>
                </a:moveTo>
                <a:moveTo>
                  <a:pt x="0" y="1666449"/>
                </a:moveTo>
                <a:lnTo>
                  <a:pt x="0" y="0"/>
                </a:lnTo>
                <a:lnTo>
                  <a:pt x="8423890" y="0"/>
                </a:lnTo>
                <a:lnTo>
                  <a:pt x="8618101" y="179936"/>
                </a:lnTo>
                <a:lnTo>
                  <a:pt x="8618101" y="166644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5049D5"/>
            </a:solidFill>
            <a:prstDash val="solid"/>
          </a:ln>
          <a:effectLst>
            <a:outerShdw blurRad="19050" dist="38100" dir="2700000" algn="bl" rotWithShape="0">
              <a:srgbClr val="5049D5">
                <a:alpha val="2117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255996" y="3251489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872669" y="3251489"/>
            <a:ext cx="0" cy="1247281"/>
          </a:xfrm>
          <a:custGeom>
            <a:avLst/>
            <a:gdLst/>
            <a:ahLst/>
            <a:cxnLst/>
            <a:rect l="l" t="t" r="r" b="b"/>
            <a:pathLst>
              <a:path h="1247281">
                <a:moveTo>
                  <a:pt x="0" y="0"/>
                </a:moveTo>
                <a:moveTo>
                  <a:pt x="0" y="0"/>
                </a:moveTo>
                <a:lnTo>
                  <a:pt x="0" y="1247281"/>
                </a:lnTo>
              </a:path>
            </a:pathLst>
          </a:custGeom>
          <a:noFill/>
          <a:ln w="9525">
            <a:solidFill>
              <a:srgbClr val="5049D5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36760" y="1358415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PHP Backend Structure</a:t>
            </a:r>
            <a:endParaRPr lang="en-US" sz="1400" dirty="0"/>
          </a:p>
        </p:txBody>
      </p:sp>
      <p:pic>
        <p:nvPicPr>
          <p:cNvPr id="13" name="Image 2" descr="https://oceandoc-ai.obs.ap-southeast-3.myhuaweicloud.com:443/image_1770465499307_DxfD8z.jpg"/>
          <p:cNvPicPr>
            <a:picLocks noChangeAspect="1"/>
          </p:cNvPicPr>
          <p:nvPr/>
        </p:nvPicPr>
        <p:blipFill>
          <a:blip r:embed="rId6"/>
          <a:srcRect t="19888" b="19888"/>
          <a:stretch/>
        </p:blipFill>
        <p:spPr>
          <a:xfrm>
            <a:off x="3449139" y="1328754"/>
            <a:ext cx="2219344" cy="13316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6760" y="1643148"/>
            <a:ext cx="2822506" cy="9310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Server-side processing handles user requests and manages AI interactions through structured PHP code.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59175" y="1358415"/>
            <a:ext cx="282174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 Integration</a:t>
            </a:r>
            <a:endParaRPr lang="en-US" sz="1400" dirty="0"/>
          </a:p>
        </p:txBody>
      </p:sp>
      <p:pic>
        <p:nvPicPr>
          <p:cNvPr id="16" name="Image 3" descr="https://oceandoc-ai.obs.ap-southeast-3.myhuaweicloud.com:443/image_1770465502977_kZ45el.jpg"/>
          <p:cNvPicPr>
            <a:picLocks noChangeAspect="1"/>
          </p:cNvPicPr>
          <p:nvPr/>
        </p:nvPicPr>
        <p:blipFill>
          <a:blip r:embed="rId7"/>
          <a:srcRect t="19888" b="19888"/>
          <a:stretch/>
        </p:blipFill>
        <p:spPr>
          <a:xfrm>
            <a:off x="3454251" y="3209327"/>
            <a:ext cx="2219344" cy="133160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59175" y="1643148"/>
            <a:ext cx="2821741" cy="9310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MySQL stores user questions, explanations and session data for efficient retrieval and performance tracking.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36760" y="3238987"/>
            <a:ext cx="2827618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Communication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36760" y="3523721"/>
            <a:ext cx="2827618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PHP facilitates secure data exchange between frontend interface and Gemini AI through RESTful API calls.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965051" y="3238987"/>
            <a:ext cx="282174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Lightweight Architecture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965051" y="3523721"/>
            <a:ext cx="2821741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Simple backend design ensures fast response times and scalability for growing user demands.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Step-by-step explanation format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408" y="1096952"/>
            <a:ext cx="1490751" cy="1490751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4087181" y="3405366"/>
            <a:ext cx="930409" cy="930409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5240" y="1082045"/>
            <a:ext cx="1346724" cy="1346724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7851" y="2003743"/>
            <a:ext cx="1490751" cy="1490751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5214" y="1903981"/>
            <a:ext cx="1501378" cy="1532018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58693" y="939111"/>
            <a:ext cx="2833736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steps</a:t>
            </a:r>
            <a:endParaRPr lang="en-US" sz="1400" dirty="0"/>
          </a:p>
        </p:txBody>
      </p:sp>
      <p:sp>
        <p:nvSpPr>
          <p:cNvPr id="12" name="Text 3"/>
          <p:cNvSpPr/>
          <p:nvPr/>
        </p:nvSpPr>
        <p:spPr>
          <a:xfrm>
            <a:off x="253537" y="1370708"/>
            <a:ext cx="2838893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Breaks down complex problems into manageable steps for better understanding.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6002866" y="939111"/>
            <a:ext cx="2874389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 included</a:t>
            </a:r>
            <a:endParaRPr lang="en-US" sz="1400" dirty="0"/>
          </a:p>
        </p:txBody>
      </p:sp>
      <p:sp>
        <p:nvSpPr>
          <p:cNvPr id="14" name="Text 5"/>
          <p:cNvSpPr/>
          <p:nvPr/>
        </p:nvSpPr>
        <p:spPr>
          <a:xfrm>
            <a:off x="6002866" y="1370686"/>
            <a:ext cx="2869730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Explains why each step works, not just what to do.</a:t>
            </a:r>
            <a:endParaRPr lang="en-US" sz="1200" dirty="0"/>
          </a:p>
        </p:txBody>
      </p:sp>
      <p:sp>
        <p:nvSpPr>
          <p:cNvPr id="15" name="Text 6"/>
          <p:cNvSpPr/>
          <p:nvPr/>
        </p:nvSpPr>
        <p:spPr>
          <a:xfrm>
            <a:off x="258693" y="3171161"/>
            <a:ext cx="2833736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answer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253537" y="3595443"/>
            <a:ext cx="2838893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Provides complete solution after thorough explanation of process.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6002866" y="3171139"/>
            <a:ext cx="2874389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Verification step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6002866" y="3595443"/>
            <a:ext cx="2869730" cy="7463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Includes quick check to confirm answer correctness and build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OCR integration planned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39960" y="1921681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515159" y="1624684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390357" y="1327687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262555" y="1097720"/>
            <a:ext cx="2241485" cy="593993"/>
          </a:xfrm>
          <a:custGeom>
            <a:avLst/>
            <a:gdLst/>
            <a:ahLst/>
            <a:cxnLst/>
            <a:rect l="l" t="t" r="r" b="b"/>
            <a:pathLst>
              <a:path w="2241485" h="593993">
                <a:moveTo>
                  <a:pt x="0" y="0"/>
                </a:moveTo>
                <a:moveTo>
                  <a:pt x="0" y="0"/>
                </a:moveTo>
                <a:lnTo>
                  <a:pt x="2241485" y="0"/>
                </a:lnTo>
                <a:lnTo>
                  <a:pt x="2241485" y="593993"/>
                </a:lnTo>
                <a:lnTo>
                  <a:pt x="0" y="593993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62555" y="1097720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2507040" y="1327992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4631841" y="1624836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756643" y="1921681"/>
            <a:ext cx="851764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262555" y="1682138"/>
            <a:ext cx="2127802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OCR for handwritten questions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2555" y="2282685"/>
            <a:ext cx="2079924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will upload images of handwritten homework for AI processing and explanation.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390357" y="1912105"/>
            <a:ext cx="2124802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Subject expansion planned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390757" y="2512384"/>
            <a:ext cx="2124402" cy="111569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Adding science, physics, and chemistry to current math focus for comprehensive learning support.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15159" y="2189501"/>
            <a:ext cx="2124802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 tracking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15159" y="2799269"/>
            <a:ext cx="2124802" cy="9310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feature to monitor student improvement and identify areas needing additional help.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639960" y="2496523"/>
            <a:ext cx="2241485" cy="4078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0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languages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639960" y="3105106"/>
            <a:ext cx="2241485" cy="9310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Expanding accessibility with multilingual support to help diverse student populations worldwide.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670</Words>
  <Application>Microsoft Office PowerPoint</Application>
  <PresentationFormat>On-screen Show (16:9)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Idris Ibrahim</cp:lastModifiedBy>
  <cp:revision>14</cp:revision>
  <dcterms:created xsi:type="dcterms:W3CDTF">2026-02-07T12:06:20Z</dcterms:created>
  <dcterms:modified xsi:type="dcterms:W3CDTF">2026-02-07T12:29:09Z</dcterms:modified>
</cp:coreProperties>
</file>